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5"/>
    <p:sldId id="260" r:id="rId6"/>
    <p:sldId id="263" r:id="rId7"/>
    <p:sldId id="261" r:id="rId8"/>
    <p:sldId id="265" r:id="rId9"/>
    <p:sldId id="267" r:id="rId10"/>
    <p:sldId id="259" r:id="rId11"/>
    <p:sldId id="262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95"/>
  </p:normalViewPr>
  <p:slideViewPr>
    <p:cSldViewPr snapToGrid="0" snapToObjects="1">
      <p:cViewPr varScale="1">
        <p:scale>
          <a:sx n="113" d="100"/>
          <a:sy n="113" d="100"/>
        </p:scale>
        <p:origin x="648" y="160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-182880"/>
            <a:ext cx="12191695" cy="6858000"/>
          </a:xfrm>
          <a:prstGeom prst="rect">
            <a:avLst/>
          </a:prstGeom>
          <a:solidFill>
            <a:srgbClr val="52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C9ED"/>
                </a:solidFill>
                <a:latin typeface="Calibri"/>
              </a:rPr>
              <a:t>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047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AI Interview Coach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515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EEE8F5"/>
                </a:solidFill>
                <a:latin typeface="Calibri"/>
              </a:rPr>
              <a:t>A </a:t>
            </a:r>
            <a:r>
              <a:rPr lang="en-US" dirty="0">
                <a:solidFill>
                  <a:srgbClr val="EEE8F5"/>
                </a:solidFill>
                <a:latin typeface="Calibri"/>
              </a:rPr>
              <a:t>hybrid </a:t>
            </a:r>
            <a:r>
              <a:rPr sz="1800" b="0" dirty="0">
                <a:solidFill>
                  <a:srgbClr val="EEE8F5"/>
                </a:solidFill>
                <a:latin typeface="Calibri"/>
              </a:rPr>
              <a:t>multi-agent mock interview system that personalizes practice</a:t>
            </a:r>
          </a:p>
          <a:p>
            <a:pPr algn="l"/>
            <a:r>
              <a:rPr sz="1800" b="0" dirty="0">
                <a:solidFill>
                  <a:srgbClr val="EEE8F5"/>
                </a:solidFill>
                <a:latin typeface="Calibri"/>
              </a:rPr>
              <a:t>from a candidate resume and target job description.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Agentic AI Engineering  ·  Live demo + architecture walkthrough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585370-AC8F-C4E2-EC1D-21A3A76644F2}"/>
              </a:ext>
            </a:extLst>
          </p:cNvPr>
          <p:cNvSpPr txBox="1"/>
          <p:nvPr/>
        </p:nvSpPr>
        <p:spPr>
          <a:xfrm>
            <a:off x="673608" y="4568952"/>
            <a:ext cx="10515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solidFill>
                  <a:srgbClr val="EEE8F5"/>
                </a:solidFill>
                <a:latin typeface="Calibri"/>
              </a:rPr>
              <a:t>Prepared by:</a:t>
            </a:r>
          </a:p>
          <a:p>
            <a:pPr algn="l"/>
            <a:endParaRPr lang="en-US" sz="1800" b="0" dirty="0">
              <a:solidFill>
                <a:srgbClr val="EEE8F5"/>
              </a:solidFill>
              <a:latin typeface="Calibri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en-US" sz="1800" b="0" dirty="0">
                <a:solidFill>
                  <a:srgbClr val="EEE8F5"/>
                </a:solidFill>
                <a:latin typeface="Calibri"/>
              </a:rPr>
              <a:t>Devendra Yadav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dirty="0">
                <a:solidFill>
                  <a:srgbClr val="EEE8F5"/>
                </a:solidFill>
                <a:latin typeface="Calibri"/>
              </a:rPr>
              <a:t>Ferdinand Dinga</a:t>
            </a:r>
            <a:endParaRPr sz="1800" b="0" dirty="0">
              <a:solidFill>
                <a:srgbClr val="EEE8F5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0C8FC2-021D-D213-3E25-7CF624200D05}"/>
              </a:ext>
            </a:extLst>
          </p:cNvPr>
          <p:cNvSpPr txBox="1"/>
          <p:nvPr/>
        </p:nvSpPr>
        <p:spPr>
          <a:xfrm>
            <a:off x="10509504" y="190821"/>
            <a:ext cx="1658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solidFill>
                  <a:srgbClr val="EEE8F5"/>
                </a:solidFill>
                <a:latin typeface="Calibri"/>
              </a:rPr>
              <a:t>Oct</a:t>
            </a:r>
            <a:r>
              <a:rPr lang="en-US" sz="1800" b="0" dirty="0">
                <a:solidFill>
                  <a:srgbClr val="EEE8F5"/>
                </a:solidFill>
                <a:latin typeface="Calibri"/>
              </a:rPr>
              <a:t>-10-2026</a:t>
            </a:r>
            <a:endParaRPr sz="1800" b="0" dirty="0">
              <a:solidFill>
                <a:srgbClr val="EEE8F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Why generic interview practice falls short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21208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Today's reality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Practice questions are often generic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They ignore the candidate's real experience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They ignore the target job requirements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Feedback is vague or delayed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48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Impact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65176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Candidates prepare for the wrong conversation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Weak transfer to real interviews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Hard to track improvement over time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No reusable prep artifacts after practice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Personalized practice powered by cooperating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728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AI Interview Coach turns a resume + job description into a voice-based mock interview,</a:t>
            </a:r>
          </a:p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then evaluates the full session and produces downloadable coaching materials.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57600"/>
            <a:ext cx="26517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6B5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97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Analyze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8006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Compare resume and JD</a:t>
            </a:r>
          </a:p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Find matches and gaps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657600"/>
            <a:ext cx="26517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03320" y="3840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6B5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297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Interview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8006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Ask tailored questions</a:t>
            </a:r>
          </a:p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with speech in/out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657600"/>
            <a:ext cx="26517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3840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6B5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4297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Evaluate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8006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Score the full session</a:t>
            </a:r>
          </a:p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and give practical feedback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657600"/>
            <a:ext cx="26517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72600" y="3840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6B5C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4297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Prepare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48006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Export study pack with</a:t>
            </a:r>
          </a:p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answers + concepts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156F8DD-E7A2-BE35-84A4-C8BAFDAD3C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89" y="358422"/>
            <a:ext cx="11176000" cy="614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449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Product Layer Around the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From model calls to a usable practice product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6B5C"/>
                </a:solidFill>
                <a:latin typeface="Calibri"/>
              </a:rPr>
              <a:t>Auth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B28"/>
                </a:solidFill>
                <a:latin typeface="Calibri"/>
              </a:rPr>
              <a:t>Email/password accounts with hashed credentials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6596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6B5C"/>
                </a:solidFill>
                <a:latin typeface="Calibri"/>
              </a:rPr>
              <a:t>Document 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B28"/>
                </a:solidFill>
                <a:latin typeface="Calibri"/>
              </a:rPr>
              <a:t>Save and reuse resumes &amp; job descriptions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96596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79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6B5C"/>
                </a:solidFill>
                <a:latin typeface="Calibri"/>
              </a:rPr>
              <a:t>Conversation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9" y="292608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B28"/>
                </a:solidFill>
                <a:latin typeface="Calibri"/>
              </a:rPr>
              <a:t>Reopen past interviews; replay audio clips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1480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6B5C"/>
                </a:solidFill>
                <a:latin typeface="Calibri"/>
              </a:rPr>
              <a:t>Downloads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749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B28"/>
                </a:solidFill>
                <a:latin typeface="Calibri"/>
              </a:rPr>
              <a:t>Feedback report + study pack (PDF / DOCX)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411480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63440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6B5C"/>
                </a:solidFill>
                <a:latin typeface="Calibri"/>
              </a:rPr>
              <a:t>Voice 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749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B28"/>
                </a:solidFill>
                <a:latin typeface="Calibri"/>
              </a:rPr>
              <a:t>Speech-to-text answers and text-to-speech questions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59" y="411480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79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6B5C"/>
                </a:solidFill>
                <a:latin typeface="Calibri"/>
              </a:rPr>
              <a:t>Modular codebase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9" y="50749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B28"/>
                </a:solidFill>
                <a:latin typeface="Calibri"/>
              </a:rPr>
              <a:t>agents / auth / library / reports / ui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Engineering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What makes this more than a chatbot wrapper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2B28"/>
                </a:solidFill>
                <a:latin typeface="Calibri"/>
              </a:rPr>
              <a:t>•  Separation of concerns: analysis, interviewing, evaluation, and orchestration are distinct agents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2B28"/>
                </a:solidFill>
                <a:latin typeface="Calibri"/>
              </a:rPr>
              <a:t>•  Deterministic interview pipeline in code for a reliable 6-question flow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2B28"/>
                </a:solidFill>
                <a:latin typeface="Calibri"/>
              </a:rPr>
              <a:t>•  Session state tracks questions, answers, and audio for history + reporting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2B28"/>
                </a:solidFill>
                <a:latin typeface="Calibri"/>
              </a:rPr>
              <a:t>•  Per-user persistence: document library and past conversations under user_data/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2B28"/>
                </a:solidFill>
                <a:latin typeface="Calibri"/>
              </a:rPr>
              <a:t>•  Downloadable coaching artifacts: feedback report and study pack with model answers + concepts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2B28"/>
                </a:solidFill>
                <a:latin typeface="Calibri"/>
              </a:rPr>
              <a:t>•  Modular project layout: agents/, auth/, library/, reports/, ui/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Live Demo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What you will see next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74519"/>
            <a:ext cx="411480" cy="411480"/>
          </a:xfrm>
          <a:prstGeom prst="ellipse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2023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Login or register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514600"/>
            <a:ext cx="411480" cy="411480"/>
          </a:xfrm>
          <a:prstGeom prst="ellipse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5603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Upload / select resume + JD from library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154679"/>
            <a:ext cx="411480" cy="411480"/>
          </a:xfrm>
          <a:prstGeom prst="ellipse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20039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Start interview — hear question audio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794759"/>
            <a:ext cx="411480" cy="411480"/>
          </a:xfrm>
          <a:prstGeom prst="ellipse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4047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Record → Transcribe → Save &amp; continue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434840"/>
            <a:ext cx="411480" cy="411480"/>
          </a:xfrm>
          <a:prstGeom prst="ellipse">
            <a:avLst/>
          </a:prstGeom>
          <a:solidFill>
            <a:srgbClr val="52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480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Review final feedback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5074920"/>
            <a:ext cx="411480" cy="411480"/>
          </a:xfrm>
          <a:prstGeom prst="ellipse">
            <a:avLst/>
          </a:prstGeom>
          <a:solidFill>
            <a:srgbClr val="52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120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Download feedback + study pack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5714999"/>
            <a:ext cx="411480" cy="411480"/>
          </a:xfrm>
          <a:prstGeom prst="ellipse">
            <a:avLst/>
          </a:prstGeom>
          <a:solidFill>
            <a:srgbClr val="52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76071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Open a past interview and replay audio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2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rgbClr val="D9C9ED"/>
                </a:solidFill>
                <a:latin typeface="Calibri"/>
              </a:rPr>
              <a:t>THANK YOU</a:t>
            </a:r>
            <a:endParaRPr sz="1400" b="1" dirty="0">
              <a:solidFill>
                <a:srgbClr val="D9C9ED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10515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dirty="0">
                <a:solidFill>
                  <a:srgbClr val="B8E6D8"/>
                </a:solidFill>
                <a:latin typeface="Calibri"/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AI Interview Coach  ·  Thank you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CEF21-7E7C-2833-B81A-3A95F9161E8C}"/>
              </a:ext>
            </a:extLst>
          </p:cNvPr>
          <p:cNvSpPr txBox="1"/>
          <p:nvPr/>
        </p:nvSpPr>
        <p:spPr>
          <a:xfrm>
            <a:off x="3905956" y="2201333"/>
            <a:ext cx="2168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Back Up Slides Below</a:t>
            </a:r>
          </a:p>
        </p:txBody>
      </p:sp>
    </p:spTree>
    <p:extLst>
      <p:ext uri="{BB962C8B-B14F-4D97-AF65-F5344CB8AC3E}">
        <p14:creationId xmlns:p14="http://schemas.microsoft.com/office/powerpoint/2010/main" val="1822176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Multi-Agent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Clear roles. Predictable orchestration.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394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109728" cy="1874519"/>
          </a:xfrm>
          <a:prstGeom prst="rect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dirty="0">
                <a:solidFill>
                  <a:srgbClr val="523873"/>
                </a:solidFill>
                <a:latin typeface="Calibri"/>
              </a:rPr>
              <a:t>Interview Manager</a:t>
            </a:r>
            <a:endParaRPr sz="1800" b="1" dirty="0">
              <a:solidFill>
                <a:srgbClr val="523873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475488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dirty="0">
                <a:solidFill>
                  <a:srgbClr val="5A6B66"/>
                </a:solidFill>
              </a:rPr>
              <a:t>Owns session state &amp; turn order</a:t>
            </a:r>
          </a:p>
          <a:p>
            <a:r>
              <a:rPr lang="en-IN" sz="1500" dirty="0">
                <a:solidFill>
                  <a:srgbClr val="5A6B66"/>
                </a:solidFill>
              </a:rPr>
              <a:t>Coordinates the workflow</a:t>
            </a:r>
          </a:p>
          <a:p>
            <a:pPr algn="l"/>
            <a:endParaRPr sz="1500" b="0" dirty="0">
              <a:solidFill>
                <a:srgbClr val="5A6B66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309360" y="1920240"/>
            <a:ext cx="5394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920240"/>
            <a:ext cx="109728" cy="1874519"/>
          </a:xfrm>
          <a:prstGeom prst="rect">
            <a:avLst/>
          </a:prstGeom>
          <a:solidFill>
            <a:srgbClr val="52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28365" y="2240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dirty="0">
                <a:solidFill>
                  <a:srgbClr val="523873"/>
                </a:solidFill>
                <a:latin typeface="Calibri"/>
              </a:rPr>
              <a:t>Job Analysis Agent</a:t>
            </a:r>
            <a:endParaRPr sz="1800" b="1" dirty="0">
              <a:solidFill>
                <a:srgbClr val="523873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75120" y="2743200"/>
            <a:ext cx="47548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5A6B66"/>
                </a:solidFill>
                <a:latin typeface="Calibri"/>
              </a:rPr>
              <a:t>Extracts skills, matches, gaps</a:t>
            </a:r>
          </a:p>
          <a:p>
            <a:pPr algn="l"/>
            <a:r>
              <a:rPr lang="en-US" sz="1500" dirty="0">
                <a:solidFill>
                  <a:srgbClr val="5A6B66"/>
                </a:solidFill>
                <a:latin typeface="Calibri"/>
              </a:rPr>
              <a:t>Generates tailored questions</a:t>
            </a:r>
            <a:endParaRPr sz="1500" b="0" dirty="0">
              <a:solidFill>
                <a:srgbClr val="5A6B66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4023360"/>
            <a:ext cx="5394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109728" cy="1874519"/>
          </a:xfrm>
          <a:prstGeom prst="rect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005840" y="4343400"/>
            <a:ext cx="4754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523873"/>
                </a:solidFill>
              </a:rPr>
              <a:t>Interview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46320"/>
            <a:ext cx="47548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dirty="0">
                <a:solidFill>
                  <a:srgbClr val="5A6B66"/>
                </a:solidFill>
              </a:rPr>
              <a:t>Runs question sequence</a:t>
            </a:r>
          </a:p>
          <a:p>
            <a:r>
              <a:rPr lang="en-IN" sz="1500" dirty="0">
                <a:solidFill>
                  <a:srgbClr val="5A6B66"/>
                </a:solidFill>
              </a:rPr>
              <a:t>Opening → tailored → close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023360"/>
            <a:ext cx="5394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09360" y="4023360"/>
            <a:ext cx="109728" cy="1874519"/>
          </a:xfrm>
          <a:prstGeom prst="rect">
            <a:avLst/>
          </a:prstGeom>
          <a:solidFill>
            <a:srgbClr val="52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5120" y="43434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Evaluation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84632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Reviews all Q&amp;A together</a:t>
            </a:r>
          </a:p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Produces final coaching feedback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Practical tools for an agentic product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35661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23873"/>
                </a:solidFill>
                <a:latin typeface="Calibri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Application logic &amp;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011680"/>
            <a:ext cx="35661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2468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23873"/>
                </a:solidFill>
                <a:latin typeface="Calibri"/>
              </a:rPr>
              <a:t>Gradio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0175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Interactive interview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2011680"/>
            <a:ext cx="35661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79" y="2468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23873"/>
                </a:solidFill>
                <a:latin typeface="Calibri"/>
              </a:rPr>
              <a:t>OpenAI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9" y="30175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Analysis, interview, STT, TTS, evaluation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14800"/>
            <a:ext cx="35661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5720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23873"/>
                </a:solidFill>
                <a:latin typeface="Calibri"/>
              </a:rPr>
              <a:t>Multi-agent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2064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Specialized roles + manager workflow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4114800"/>
            <a:ext cx="35661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63440" y="45720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23873"/>
                </a:solidFill>
                <a:latin typeface="Calibri"/>
              </a:rPr>
              <a:t>python-docx / fpdf2 / pypdf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12064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Document read &amp; report export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59" y="4114800"/>
            <a:ext cx="35661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79" y="45720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23873"/>
                </a:solidFill>
                <a:latin typeface="Calibri"/>
              </a:rPr>
              <a:t>Local user_data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9" y="512064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Resumes, JDs, conversations, audio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Scope, Limits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Honest about today — clear about tomorrow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Current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4754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Opening/closing questions are fixed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Four middle questions are tailored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Evaluation after the full interview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Local auth + local file 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48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6B5C"/>
                </a:solidFill>
                <a:latin typeface="Calibri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697480"/>
            <a:ext cx="4754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Adaptive follow-up questions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Richer scoring rubric per answer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Cloud storage / stronger production auth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Progress analytics across sessions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608</Words>
  <Application>Microsoft Macintosh PowerPoint</Application>
  <PresentationFormat>Widescreen</PresentationFormat>
  <Paragraphs>132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Gang Ferdinand Dinga</dc:creator>
  <cp:keywords/>
  <dc:description>generated using python-pptx</dc:description>
  <cp:lastModifiedBy>Devendra Yadav</cp:lastModifiedBy>
  <cp:revision>11</cp:revision>
  <dcterms:created xsi:type="dcterms:W3CDTF">2013-01-27T09:14:16Z</dcterms:created>
  <dcterms:modified xsi:type="dcterms:W3CDTF">2026-10-10T14:10:05Z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2aa0bd3-5b9a-41d8-afbc-9cbdabc32b2c_Enabled">
    <vt:lpwstr>True</vt:lpwstr>
  </property>
  <property fmtid="{D5CDD505-2E9C-101B-9397-08002B2CF9AE}" pid="3" name="MSIP_Label_42aa0bd3-5b9a-41d8-afbc-9cbdabc32b2c_SiteId">
    <vt:lpwstr>28fd0d9a-e529-413f-88d5-7f33f67675ef</vt:lpwstr>
  </property>
  <property fmtid="{D5CDD505-2E9C-101B-9397-08002B2CF9AE}" pid="4" name="MSIP_Label_42aa0bd3-5b9a-41d8-afbc-9cbdabc32b2c_SetDate">
    <vt:lpwstr>2026-10-10T01:56:03Z</vt:lpwstr>
  </property>
  <property fmtid="{D5CDD505-2E9C-101B-9397-08002B2CF9AE}" pid="5" name="MSIP_Label_42aa0bd3-5b9a-41d8-afbc-9cbdabc32b2c_Name">
    <vt:lpwstr>Confidential \ All Employees</vt:lpwstr>
  </property>
  <property fmtid="{D5CDD505-2E9C-101B-9397-08002B2CF9AE}" pid="6" name="MSIP_Label_42aa0bd3-5b9a-41d8-afbc-9cbdabc32b2c_ActionId">
    <vt:lpwstr>884bd97e-a90f-4d1a-87de-f1eb73e74e22</vt:lpwstr>
  </property>
  <property fmtid="{D5CDD505-2E9C-101B-9397-08002B2CF9AE}" pid="7" name="MSIP_Label_42aa0bd3-5b9a-41d8-afbc-9cbdabc32b2c_Removed">
    <vt:lpwstr>False</vt:lpwstr>
  </property>
  <property fmtid="{D5CDD505-2E9C-101B-9397-08002B2CF9AE}" pid="8" name="MSIP_Label_42aa0bd3-5b9a-41d8-afbc-9cbdabc32b2c_Parent">
    <vt:lpwstr>6abfde06-b9f0-4674-bc23-4c918847de28</vt:lpwstr>
  </property>
  <property fmtid="{D5CDD505-2E9C-101B-9397-08002B2CF9AE}" pid="9" name="MSIP_Label_42aa0bd3-5b9a-41d8-afbc-9cbdabc32b2c_Extended_MSFT_Method">
    <vt:lpwstr>Standard</vt:lpwstr>
  </property>
  <property fmtid="{D5CDD505-2E9C-101B-9397-08002B2CF9AE}" pid="10" name="MSIP_Label_6abfde06-b9f0-4674-bc23-4c918847de28_Enabled">
    <vt:lpwstr>True</vt:lpwstr>
  </property>
  <property fmtid="{D5CDD505-2E9C-101B-9397-08002B2CF9AE}" pid="11" name="MSIP_Label_6abfde06-b9f0-4674-bc23-4c918847de28_SiteId">
    <vt:lpwstr>28fd0d9a-e529-413f-88d5-7f33f67675ef</vt:lpwstr>
  </property>
  <property fmtid="{D5CDD505-2E9C-101B-9397-08002B2CF9AE}" pid="12" name="MSIP_Label_6abfde06-b9f0-4674-bc23-4c918847de28_SetDate">
    <vt:lpwstr>2026-10-10T01:56:03Z</vt:lpwstr>
  </property>
  <property fmtid="{D5CDD505-2E9C-101B-9397-08002B2CF9AE}" pid="13" name="MSIP_Label_6abfde06-b9f0-4674-bc23-4c918847de28_Name">
    <vt:lpwstr>Confidential</vt:lpwstr>
  </property>
  <property fmtid="{D5CDD505-2E9C-101B-9397-08002B2CF9AE}" pid="14" name="MSIP_Label_6abfde06-b9f0-4674-bc23-4c918847de28_ActionId">
    <vt:lpwstr>0f955a14-ed1a-445f-a2da-906c1e272981</vt:lpwstr>
  </property>
  <property fmtid="{D5CDD505-2E9C-101B-9397-08002B2CF9AE}" pid="15" name="MSIP_Label_6abfde06-b9f0-4674-bc23-4c918847de28_Extended_MSFT_Method">
    <vt:lpwstr>Standard</vt:lpwstr>
  </property>
  <property fmtid="{D5CDD505-2E9C-101B-9397-08002B2CF9AE}" pid="16" name="Sensitivity">
    <vt:lpwstr>Confidential \ All Employees Confidential</vt:lpwstr>
  </property>
</Properties>
</file>